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18872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640080"/>
            <a:ext cx="2377440" cy="2377440"/>
          </a:xfrm>
          <a:prstGeom prst="ellipse">
            <a:avLst/>
          </a:prstGeom>
          <a:solidFill>
            <a:srgbClr val="E8613A">
              <a:alpha val="13000"/>
            </a:srgbClr>
          </a:solidFill>
          <a:ln w="12700">
            <a:solidFill>
              <a:srgbClr val="E8613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840480"/>
            <a:ext cx="2194560" cy="2194560"/>
          </a:xfrm>
          <a:prstGeom prst="ellipse">
            <a:avLst/>
          </a:prstGeom>
          <a:solidFill>
            <a:srgbClr val="0D8A8A">
              <a:alpha val="12000"/>
            </a:srgbClr>
          </a:solidFill>
          <a:ln w="12700">
            <a:solidFill>
              <a:srgbClr val="0D8A8A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Capstone Project  |  Business Intelligence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Superstore's Data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Tell Us?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3401568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Power BI analysis of sales, profit, regional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customer segments and shipping across the Superstore.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291840"/>
            <a:ext cx="868680" cy="868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Capstone  |  Power BI Dashboard  |  9-Slide Report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Presentation Covers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 of the Superstore Capstone Power BI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402336" cy="62179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2996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9110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1945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retail data is hard to act on without structure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187452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874520"/>
            <a:ext cx="402336" cy="62179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187452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202996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19110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669280" y="21945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fields, measures, and dashboard architecture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260604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606040"/>
            <a:ext cx="402336" cy="62179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260604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7614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25880" y="264261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25880" y="2926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design: visuals, slicers &amp; KPIs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800600" y="260604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00600" y="2606040"/>
            <a:ext cx="402336" cy="62179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00600" y="260604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2761488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69280" y="264261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&amp; Profit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669280" y="2926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YoY growth and Profit Margin analysis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57200" y="333756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7200" y="3337560"/>
            <a:ext cx="402336" cy="62179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57200" y="333756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493008"/>
            <a:ext cx="310896" cy="31089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325880" y="33741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Insights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325880" y="3657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performance across states and regions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800600" y="333756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800600" y="3337560"/>
            <a:ext cx="402336" cy="62179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800600" y="333756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088" y="3493008"/>
            <a:ext cx="310896" cy="31089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669280" y="33741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Segments &amp; Shipping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5669280" y="3657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segments, ship modes and their business impact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57200" y="406908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57200" y="4069080"/>
            <a:ext cx="402336" cy="62179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457200" y="406908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224528"/>
            <a:ext cx="310896" cy="31089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325880" y="41056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Results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1325880" y="4389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KPIs, top findings and performance highlights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4800600" y="406908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4800600" y="4069080"/>
            <a:ext cx="402336" cy="62179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4800600" y="406908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6088" y="4224528"/>
            <a:ext cx="310896" cy="310896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5669280" y="41056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3" name="Text 43"/>
          <p:cNvSpPr/>
          <p:nvPr/>
        </p:nvSpPr>
        <p:spPr>
          <a:xfrm>
            <a:off x="5669280" y="4389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and next steps for the business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Challenge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data without structure creates costly blind spots for decision-makers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0604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2606040" cy="91440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9339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4505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Sales Visibility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852928"/>
            <a:ext cx="24231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aggregated views, it's nearly impossible to know which product categories, regions, or customer segments are actually driving revenue vs. dragging margins.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1783080"/>
            <a:ext cx="260604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783080"/>
            <a:ext cx="2606040" cy="9144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9339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4505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 Confusion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2852928"/>
            <a:ext cx="24231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Consumer, Corporate, and Home Office customers behave differently. Without segmentation analysis, pricing and marketing strategies remain one-size-fits-all.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35040" y="1783080"/>
            <a:ext cx="260604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783080"/>
            <a:ext cx="2606040" cy="9144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9339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4505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Blind Spots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26480" y="2852928"/>
            <a:ext cx="24231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varies sharply by state and region. Without geographic analysis, high-opportunity territories go unnoticed and poor performers go unchecked.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48006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Sample – Superstore dataset | Analysed via Power BI Dashboard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the Superstore Dataset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was collected and how the Power BI model is structured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9776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3977640" cy="384048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373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Data Dimensions &amp; Measures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3977640" cy="265176"/>
          </a:xfrm>
          <a:prstGeom prst="rect">
            <a:avLst/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12848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Date / Year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2212848"/>
            <a:ext cx="1417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39776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78024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Name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478024"/>
            <a:ext cx="1417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3977640" cy="265176"/>
          </a:xfrm>
          <a:prstGeom prst="rect">
            <a:avLst/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2743200"/>
            <a:ext cx="1417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08376"/>
            <a:ext cx="39776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08376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/ State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3008376"/>
            <a:ext cx="1417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73552"/>
            <a:ext cx="3977640" cy="265176"/>
          </a:xfrm>
          <a:prstGeom prst="rect">
            <a:avLst/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73552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/ Sub-Cat.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273552"/>
            <a:ext cx="1417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38728"/>
            <a:ext cx="39776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538728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 Mode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3538728"/>
            <a:ext cx="1417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803904"/>
            <a:ext cx="3977640" cy="265176"/>
          </a:xfrm>
          <a:prstGeom prst="rect">
            <a:avLst/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803904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3803904"/>
            <a:ext cx="1417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6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(₹/$)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069080"/>
            <a:ext cx="39776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069080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26080" y="4069080"/>
            <a:ext cx="1417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6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(₹/$)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334256"/>
            <a:ext cx="3977640" cy="265176"/>
          </a:xfrm>
          <a:prstGeom prst="rect">
            <a:avLst/>
          </a:prstGeom>
          <a:solidFill>
            <a:srgbClr val="F3F8FF"/>
          </a:solidFill>
          <a:ln w="12700">
            <a:solidFill>
              <a:srgbClr val="F3F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334256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0" y="4334256"/>
            <a:ext cx="1417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6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(%)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599432"/>
            <a:ext cx="397764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599432"/>
            <a:ext cx="2331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YoY 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26080" y="4599432"/>
            <a:ext cx="14173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6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(%)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1737360"/>
            <a:ext cx="20116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1737360"/>
            <a:ext cx="73152" cy="144475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1883664"/>
            <a:ext cx="347472" cy="347472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4837176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9,994</a:t>
            </a:r>
            <a:endParaRPr lang="en-US" sz="2400" dirty="0"/>
          </a:p>
        </p:txBody>
      </p:sp>
      <p:sp>
        <p:nvSpPr>
          <p:cNvPr id="43" name="Text 40"/>
          <p:cNvSpPr/>
          <p:nvPr/>
        </p:nvSpPr>
        <p:spPr>
          <a:xfrm>
            <a:off x="4837176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885432" y="1737360"/>
            <a:ext cx="20116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885432" y="1737360"/>
            <a:ext cx="73152" cy="144475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883664"/>
            <a:ext cx="347472" cy="347472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7013448" y="23042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48" name="Text 44"/>
          <p:cNvSpPr/>
          <p:nvPr/>
        </p:nvSpPr>
        <p:spPr>
          <a:xfrm>
            <a:off x="7013448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4709160" y="3364992"/>
            <a:ext cx="20116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4709160" y="3364992"/>
            <a:ext cx="73152" cy="1444752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3511296"/>
            <a:ext cx="347472" cy="347472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4837176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53" name="Text 48"/>
          <p:cNvSpPr/>
          <p:nvPr/>
        </p:nvSpPr>
        <p:spPr>
          <a:xfrm>
            <a:off x="4837176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6885432" y="3364992"/>
            <a:ext cx="20116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6885432" y="3364992"/>
            <a:ext cx="73152" cy="144475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3511296"/>
            <a:ext cx="347472" cy="347472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7013448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58" name="Text 52"/>
          <p:cNvSpPr/>
          <p:nvPr/>
        </p:nvSpPr>
        <p:spPr>
          <a:xfrm>
            <a:off x="7013448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Regions</a:t>
            </a:r>
            <a:endParaRPr lang="en-US" sz="1100" dirty="0"/>
          </a:p>
        </p:txBody>
      </p:sp>
      <p:sp>
        <p:nvSpPr>
          <p:cNvPr id="59" name="Text 53"/>
          <p:cNvSpPr/>
          <p:nvPr/>
        </p:nvSpPr>
        <p:spPr>
          <a:xfrm>
            <a:off x="457200" y="48006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– Superstore dataset | Table visual, line chart, bar chart, map, KPI cards and slicers used in dashboard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 — What We Built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single-page report with 6 visual types and 4 dynamic slicers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73152" cy="80467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04825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88366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22128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Total Profit and Profit Margin displayed as headline scorecards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82880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828800"/>
            <a:ext cx="73152" cy="80467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04825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88366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Trend Line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03520" y="22128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yearly Sales YoY% combo chart to track growth over time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78892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788920"/>
            <a:ext cx="73152" cy="804672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00837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284378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Map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51560" y="31729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sales bubble map revealing regional hotspots and gaps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09160" y="278892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09160" y="2788920"/>
            <a:ext cx="73152" cy="80467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008376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03520" y="284378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Bar Chart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303520" y="31729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 comparing sales across Categories and Sub-categories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374904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7200" y="3749040"/>
            <a:ext cx="73152" cy="80467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968496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51560" y="38039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 Table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051560" y="41330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table view of customer segments, ship modes and order breakdown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709160" y="374904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709160" y="3749040"/>
            <a:ext cx="73152" cy="804672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968496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03520" y="38039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Slicers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303520" y="41330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Region, Segment and Category slicers for on-the-fly filtering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57200" y="48006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built on Sample – Superstore | Single page layout | Power BI Desktop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&amp; PROFIT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Profit Performance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total revenue, profit margins and year-over-year growth trends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7548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9202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&amp; Profit by Category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591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2377440"/>
            <a:ext cx="2468880" cy="1828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2596896"/>
            <a:ext cx="1536192" cy="182880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5409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74520" y="3072384"/>
            <a:ext cx="1975104" cy="1828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4520" y="3291840"/>
            <a:ext cx="1097280" cy="182880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4904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74520" y="3767328"/>
            <a:ext cx="1755648" cy="18288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86784"/>
            <a:ext cx="329184" cy="182880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279392"/>
            <a:ext cx="256032" cy="128016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23367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40280" y="4279392"/>
            <a:ext cx="256032" cy="128016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423367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0680" y="1828800"/>
            <a:ext cx="3246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40680" y="1828800"/>
            <a:ext cx="73152" cy="841248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2084832"/>
            <a:ext cx="310896" cy="31089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007608" y="1883664"/>
            <a:ext cx="2587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Leads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007608" y="2176272"/>
            <a:ext cx="25877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the highest-grossing category with the best profit margins — making it the most valuable segment to prioritise in promotions and inventory.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40680" y="2798064"/>
            <a:ext cx="3246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440680" y="2798064"/>
            <a:ext cx="73152" cy="84124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72" y="3054096"/>
            <a:ext cx="310896" cy="31089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007608" y="2852928"/>
            <a:ext cx="2587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YoY Sales Growth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007608" y="3145536"/>
            <a:ext cx="25877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YoY% shows consistent upward momentum across years, with Q4 consistently outperforming other quarters due to seasonal demand.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440680" y="3767328"/>
            <a:ext cx="32461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440680" y="3767328"/>
            <a:ext cx="73152" cy="841248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2" y="4023360"/>
            <a:ext cx="310896" cy="31089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007608" y="3822192"/>
            <a:ext cx="2587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Furniture Lag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007608" y="4114800"/>
            <a:ext cx="25877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high sales volume, Furniture shows the thinnest profit margins — indicating pricing, discount, or cost-structure issues that need attention.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457200" y="48006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Total Sales, Total Profit and Profit Margin measures | Sales YoY % tracked via line-column combo chart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REGIONS &amp; SEGMENTS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and Who Drives the Business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geography and customer segment performance side by side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836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by Region &amp; State (Top States)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304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(West)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0" y="2350008"/>
            <a:ext cx="1499616" cy="16459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6883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(East)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0" y="2734056"/>
            <a:ext cx="1280160" cy="164592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0723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(Central)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0" y="3118104"/>
            <a:ext cx="950976" cy="164592"/>
          </a:xfrm>
          <a:prstGeom prst="rect">
            <a:avLst/>
          </a:prstGeom>
          <a:solidFill>
            <a:srgbClr val="7AB5D4"/>
          </a:solidFill>
          <a:ln w="12700">
            <a:solidFill>
              <a:srgbClr val="7AB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4564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Pennsylvania (East)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0" y="3502152"/>
            <a:ext cx="768096" cy="164592"/>
          </a:xfrm>
          <a:prstGeom prst="rect">
            <a:avLst/>
          </a:prstGeom>
          <a:solidFill>
            <a:srgbClr val="94C8E0"/>
          </a:solidFill>
          <a:ln w="12700">
            <a:solidFill>
              <a:srgbClr val="94C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404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(West)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0" y="3886200"/>
            <a:ext cx="658368" cy="164592"/>
          </a:xfrm>
          <a:prstGeom prst="rect">
            <a:avLst/>
          </a:prstGeom>
          <a:solidFill>
            <a:srgbClr val="B0D8ED"/>
          </a:solidFill>
          <a:ln w="12700">
            <a:solidFill>
              <a:srgbClr val="B0D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2245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Illinois (Central)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0" y="4270248"/>
            <a:ext cx="512064" cy="164592"/>
          </a:xfrm>
          <a:prstGeom prst="rect">
            <a:avLst/>
          </a:prstGeom>
          <a:solidFill>
            <a:srgbClr val="C8E5F5"/>
          </a:solidFill>
          <a:ln w="12700">
            <a:solidFill>
              <a:srgbClr val="C8E5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783080"/>
            <a:ext cx="3977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865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by Customer Segment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212848"/>
            <a:ext cx="1143000" cy="512064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212848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44768" y="2212848"/>
            <a:ext cx="1143000" cy="51206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2212848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43216" y="2212848"/>
            <a:ext cx="1143000" cy="512064"/>
          </a:xfrm>
          <a:prstGeom prst="rect">
            <a:avLst/>
          </a:prstGeom>
          <a:solidFill>
            <a:srgbClr val="94C8E0"/>
          </a:solidFill>
          <a:ln w="12700">
            <a:solidFill>
              <a:srgbClr val="94C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2212848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218688"/>
            <a:ext cx="39776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3310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Ship Modes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6758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3712464"/>
            <a:ext cx="1186891" cy="146304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2555" y="367588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392277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Class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0" y="3959352"/>
            <a:ext cx="402336" cy="146304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92277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16966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4206240"/>
            <a:ext cx="301752" cy="146304"/>
          </a:xfrm>
          <a:prstGeom prst="rect">
            <a:avLst/>
          </a:prstGeom>
          <a:solidFill>
            <a:srgbClr val="94C8E0"/>
          </a:solidFill>
          <a:ln w="12700">
            <a:solidFill>
              <a:srgbClr val="94C8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57416" y="41696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441655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0" y="4453128"/>
            <a:ext cx="120701" cy="146304"/>
          </a:xfrm>
          <a:prstGeom prst="rect">
            <a:avLst/>
          </a:prstGeom>
          <a:solidFill>
            <a:srgbClr val="D0E4F5"/>
          </a:solidFill>
          <a:ln w="12700">
            <a:solidFill>
              <a:srgbClr val="D0E4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76365" y="44165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Region, State, Segment and Ship Mode dimensions | Geographic map visual used in dashboard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 from the Dashboard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 and the most important findings from the Superstore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691640"/>
            <a:ext cx="199339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691640"/>
            <a:ext cx="73152" cy="1508760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013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" y="2212848"/>
            <a:ext cx="1783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6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21208" y="27706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05456" y="1691640"/>
            <a:ext cx="199339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05456" y="1691640"/>
            <a:ext cx="73152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180136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42616" y="2212848"/>
            <a:ext cx="1783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$286K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2642616" y="27706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26864" y="1691640"/>
            <a:ext cx="199339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1691640"/>
            <a:ext cx="73152" cy="15087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80136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64024" y="2212848"/>
            <a:ext cx="1783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12.5%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4764024" y="27706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748272" y="1691640"/>
            <a:ext cx="199339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48272" y="1691640"/>
            <a:ext cx="73152" cy="15087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180136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85432" y="2212848"/>
            <a:ext cx="1783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+20%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6885432" y="27706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YoY Growth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32461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Deeper Findings</a:t>
            </a:r>
            <a:endParaRPr lang="en-US" sz="15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94176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86384" y="36758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and New York account for over 30% of total sales, making the West and East regions the highest-priority territories.</a:t>
            </a:r>
            <a:endParaRPr lang="en-US" sz="11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95928"/>
            <a:ext cx="246888" cy="2468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86384" y="3977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contributes ~51% of all sales, but Corporate customers show higher average order values and better profit margins.</a:t>
            </a:r>
            <a:endParaRPr lang="en-US" sz="115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97680"/>
            <a:ext cx="246888" cy="24688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86384" y="42793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shipping is used by 59% of customers — offering premium shipping incentives could lift Corporate segment loyalty.</a:t>
            </a:r>
            <a:endParaRPr lang="en-US" sz="11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599432"/>
            <a:ext cx="246888" cy="24688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86384" y="458114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sub-categories like Tables show negative profit margins, suggesting deep discounts are eroding profitability in that segment.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474720" cy="3474720"/>
          </a:xfrm>
          <a:prstGeom prst="ellipse">
            <a:avLst/>
          </a:prstGeom>
          <a:solidFill>
            <a:srgbClr val="E8613A">
              <a:alpha val="12000"/>
            </a:srgbClr>
          </a:solidFill>
          <a:ln w="12700">
            <a:solidFill>
              <a:srgbClr val="E8613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548640"/>
            <a:ext cx="2651760" cy="2651760"/>
          </a:xfrm>
          <a:prstGeom prst="ellipse">
            <a:avLst/>
          </a:prstGeom>
          <a:solidFill>
            <a:srgbClr val="0D8A8A">
              <a:alpha val="15000"/>
            </a:srgbClr>
          </a:solidFill>
          <a:ln w="12700">
            <a:solidFill>
              <a:srgbClr val="0D8A8A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4114800"/>
            <a:ext cx="1828800" cy="182880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Data to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Superstore Capstone dashboard turns complex retail data into a clear, interactive story — giving business leaders the visibility to act on sales, profit, region and segment performance.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3310128"/>
            <a:ext cx="274320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E86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015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34015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 Technology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785616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inventory &amp; promos in the Technology category — it delivers the highest margins across all regions.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3310128"/>
            <a:ext cx="274320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D8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40156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0480" y="34015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West &amp; East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29000" y="3785616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California and New York — two states that together drive nearly a third of all revenue.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72200" y="3310128"/>
            <a:ext cx="274320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40156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340156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Furniture Costs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09360" y="3785616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cost-structure review for Furniture, especially Tables, to eliminate negative-margin products.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Capstone Analysis  ●  Built with Power BI  ●  Data-Driven Retail Strategy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Capstone Sales Analysis</dc:title>
  <dc:subject>PptxGenJS Presentation</dc:subject>
  <dc:creator>PptxGenJS</dc:creator>
  <cp:lastModifiedBy>PptxGenJS</cp:lastModifiedBy>
  <cp:revision>1</cp:revision>
  <dcterms:created xsi:type="dcterms:W3CDTF">2026-06-03T05:14:39Z</dcterms:created>
  <dcterms:modified xsi:type="dcterms:W3CDTF">2026-06-03T05:14:39Z</dcterms:modified>
</cp:coreProperties>
</file>